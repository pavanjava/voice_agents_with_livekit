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Set expectations: 10-hour deep dive into the logic/structure layer of LiveKit Agents — sessions, chat context, turn detection, agent handoffs.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pillars. This is the map for the whole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the whole day: naive single-prompt agents break down in real conversations. Structure is what makes agents production-grade.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AgentSession is the top-level object. It wires STT/LLM/TTS, turn handling, and RoomIO together. Requires at least one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phases: initializing, starting, running, closing. Emphasize that 'running' is where the agent controls the session and can transfer to other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code: session config with stt/llm/tts, turn_handling, then session.start with agent and room_options.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main events. conversation_item_added and agent_state_changed are the ones people reach for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RoomIO bridges the session and the LiveKit room. Cover input/output toggles, linked participant, and cleanup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user_away_timeout + user_state_changed pattern for checking in and shutting down gracefully.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ChatContext holds an ordered list of items. Every agent/task has its own chat_ctx; session.history has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item types. function_call/function_call_output pairs matter for truncation and merging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copy() snapshots the context with filters. truncate() keeps the tail, always preserves system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merge() combines items, dedupes by id, keeps chronological order — useful after parallel tasks reunify.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way to personalize an agent without a round trip to the LLM — pre-load chat_ctx before session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on_user_turn_completed lets you inject retrieved data before the LLM replies. update_chat_ctx persists beyond this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detector model is default and recommended for most agents. Others are for specific situations.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default: AgentSession enables the audio turn detector automatically. Most agents need no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Push-to-talk flow: start_turn interrupts+clears+starts listening, end_turn stops listening+commits, cancel_turn discards.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pauses speech whenever user speech is detected. On interruption, conversation history is truncated to what the user actually heard.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mode distinguishes real interruptions from backchanneling. False interruptions can resume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 how long a user can speak before the agent politely cuts in — good for callers who monopolize the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 to split into agents: different roles, model specialization, different permissions, specialized contexts.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Agent.create with instructions and lifecycle hooks like on_enter. Can be defined as a class or inline.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a different agent from a tool call. The LLM decides when a handoff should occur. Diagram the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default the new agent starts with a fresh history. Pass chat_ctx to preserve it, optionally excluding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long conversations, summarize before handoff to keep the next agent's context compact and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userdata carries typed custom state across the whole session, available in tools via RunContext.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whole pipeline end to end: session orchestrates, chat context carries history, turn detection paces it, agents hand off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 Five core ideas to remember from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docs for deeper dives during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ivekit.io/agents/logic/" TargetMode="External"/><Relationship Id="rId2" Type="http://schemas.openxmlformats.org/officeDocument/2006/relationships/hyperlink" Target="https://docs.livekit.io/agents/logic/sessions/" TargetMode="External"/><Relationship Id="rId3" Type="http://schemas.openxmlformats.org/officeDocument/2006/relationships/hyperlink" Target="https://docs.livekit.io/agents/logic/chat-context/" TargetMode="External"/><Relationship Id="rId4" Type="http://schemas.openxmlformats.org/officeDocument/2006/relationships/hyperlink" Target="https://docs.livekit.io/agents/logic/turns/" TargetMode="External"/><Relationship Id="rId5" Type="http://schemas.openxmlformats.org/officeDocument/2006/relationships/hyperlink" Target="https://docs.livekit.io/agents/logic/agents-handoffs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777579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LIVEKIT AGENTS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520529"/>
            <a:ext cx="14716125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53"/>
              </a:lnSpc>
              <a:buNone/>
            </a:pPr>
            <a:r>
              <a:rPr lang="en-US" sz="66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Voice Agents: Logic &amp; Structure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5623471"/>
            <a:ext cx="1275397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Sessions, chat context, turn detection, and agent handoffs for production voice AI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7318921"/>
            <a:ext cx="2414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10-HOUR WORKSHOP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18620" y="7318921"/>
            <a:ext cx="3922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BACKEND &amp; ML ENGINEERS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pillars of agent logic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001125" y="2619375"/>
            <a:ext cx="9525" cy="69437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4638675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76400" y="4657725"/>
            <a:ext cx="464529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sessions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676400" y="5124450"/>
            <a:ext cx="46452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orchestrator — I/O, pipeline, lifecycle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5695950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76400" y="5715000"/>
            <a:ext cx="379236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 context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676400" y="6181725"/>
            <a:ext cx="37923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LLM knows on each turn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6753225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76400" y="6772275"/>
            <a:ext cx="556551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detection &amp; interruptions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676400" y="7239000"/>
            <a:ext cx="55655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 flow and timing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82150" y="5167313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306050" y="5186363"/>
            <a:ext cx="480851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&amp; handoffs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0306050" y="5653088"/>
            <a:ext cx="48085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 workflows and control transfer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82150" y="6224588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306050" y="6243638"/>
            <a:ext cx="370330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306050" y="6710363"/>
            <a:ext cx="3703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complete workflow, end to end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MOTIVATION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571625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structure agent logic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233988"/>
            <a:ext cx="82410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prompt and a loop works for a demo. It breaks down once you need multi-step processes, specialized roles, external data, and conversations that don't go in a straight line.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334500" y="4195763"/>
            <a:ext cx="8001000" cy="819150"/>
          </a:xfrm>
          <a:prstGeom prst="roundRect">
            <a:avLst>
              <a:gd name="adj" fmla="val 4651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8825" y="4452938"/>
            <a:ext cx="7612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Reliable, maintainable behavior in nuanced conversations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5186363"/>
            <a:ext cx="8001000" cy="819150"/>
          </a:xfrm>
          <a:prstGeom prst="roundRect">
            <a:avLst>
              <a:gd name="adj" fmla="val 4651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8825" y="5443538"/>
            <a:ext cx="7612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Multi-step processes with typed, recoverable results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34500" y="6176963"/>
            <a:ext cx="8001000" cy="819150"/>
          </a:xfrm>
          <a:prstGeom prst="roundRect">
            <a:avLst>
              <a:gd name="adj" fmla="val 4651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8825" y="6434138"/>
            <a:ext cx="7612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 turn-taking that feels like a real conversation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0" y="7167563"/>
            <a:ext cx="8001000" cy="819150"/>
          </a:xfrm>
          <a:prstGeom prst="roundRect">
            <a:avLst>
              <a:gd name="adj" fmla="val 4651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8825" y="7424738"/>
            <a:ext cx="7612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Specialized agents with clear permission and role boundaries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0" y="571500"/>
            <a:ext cx="2514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5EEAD4">
                    <a:alpha val="1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3824288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ONE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376738"/>
            <a:ext cx="1802130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Sessions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643563"/>
            <a:ext cx="1177290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main orchestrator for input collection, pipeline management, and output delivery</a:t>
            </a:r>
            <a:endParaRPr lang="en-US" sz="2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SESSIONS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main orchestrator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4905375"/>
            <a:ext cx="854102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AgentSession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collects user input, manages the voice pipeline, invokes the LLM, and sends output back to the user.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991225"/>
            <a:ext cx="8541024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session requires at least one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the agent defines instructions, tools, and reasoning. Sessions support single-agent apps or complex multi-agent workflows.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778157" y="3705225"/>
            <a:ext cx="7557343" cy="4772025"/>
          </a:xfrm>
          <a:prstGeom prst="roundRect">
            <a:avLst>
              <a:gd name="adj" fmla="val 1198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7682" y="3714750"/>
            <a:ext cx="7538293" cy="733425"/>
          </a:xfrm>
          <a:prstGeom prst="rect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787682" y="4438650"/>
            <a:ext cx="7538293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9" name="Text 7"/>
          <p:cNvSpPr/>
          <p:nvPr/>
        </p:nvSpPr>
        <p:spPr>
          <a:xfrm>
            <a:off x="9941307" y="3924300"/>
            <a:ext cx="72310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audio / text / video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41307" y="4733925"/>
            <a:ext cx="72310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787682" y="5324475"/>
            <a:ext cx="7538293" cy="990600"/>
          </a:xfrm>
          <a:prstGeom prst="rect">
            <a:avLst/>
          </a:prstGeom>
          <a:solidFill>
            <a:srgbClr val="121A22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7682" y="6305550"/>
            <a:ext cx="7538293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7682" y="5324475"/>
            <a:ext cx="7538293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4" name="Text 12"/>
          <p:cNvSpPr/>
          <p:nvPr/>
        </p:nvSpPr>
        <p:spPr>
          <a:xfrm>
            <a:off x="9941307" y="5619750"/>
            <a:ext cx="72310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AgentSession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290822" y="6315075"/>
            <a:ext cx="9525" cy="6953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6" name="Text 14"/>
          <p:cNvSpPr/>
          <p:nvPr/>
        </p:nvSpPr>
        <p:spPr>
          <a:xfrm>
            <a:off x="9863882" y="6524625"/>
            <a:ext cx="2350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4803636" y="6315075"/>
            <a:ext cx="9525" cy="6953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76547" y="6524625"/>
            <a:ext cx="23508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889361" y="6524625"/>
            <a:ext cx="23602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TTS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41307" y="7219950"/>
            <a:ext cx="72310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787682" y="7734300"/>
            <a:ext cx="7538293" cy="733425"/>
          </a:xfrm>
          <a:prstGeom prst="rect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87682" y="7734300"/>
            <a:ext cx="7538293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23" name="Text 21"/>
          <p:cNvSpPr/>
          <p:nvPr/>
        </p:nvSpPr>
        <p:spPr>
          <a:xfrm>
            <a:off x="9941307" y="7953375"/>
            <a:ext cx="72310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output (speech + transcript)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SESSIONS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lifecycle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9375"/>
            <a:ext cx="3952875" cy="6943725"/>
          </a:xfrm>
          <a:prstGeom prst="roundRect">
            <a:avLst>
              <a:gd name="adj" fmla="val 1446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8725" y="2933700"/>
            <a:ext cx="3740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INITIALIZING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28725" y="3409950"/>
            <a:ext cx="350243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sets up. No audio/video processing yet.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95875" y="2619375"/>
            <a:ext cx="3952875" cy="6943725"/>
          </a:xfrm>
          <a:prstGeom prst="roundRect">
            <a:avLst>
              <a:gd name="adj" fmla="val 1446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2100" y="2933700"/>
            <a:ext cx="3740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STARTING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72100" y="3409950"/>
            <a:ext cx="3502438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start() sets up I/O, begins forwarding frames. Agent state → listening.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39250" y="2619375"/>
            <a:ext cx="3952875" cy="6943725"/>
          </a:xfrm>
          <a:prstGeom prst="roundRect">
            <a:avLst>
              <a:gd name="adj" fmla="val 1446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15475" y="2933700"/>
            <a:ext cx="3740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RUNNING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15475" y="3409950"/>
            <a:ext cx="3502438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controls the session, transitions listening ↔ thinking ↔ speaking, can transfer to other agents.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82625" y="2619375"/>
            <a:ext cx="3952875" cy="6943725"/>
          </a:xfrm>
          <a:prstGeom prst="roundRect">
            <a:avLst>
              <a:gd name="adj" fmla="val 1446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58850" y="2933700"/>
            <a:ext cx="3740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· CLOSING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58850" y="3409950"/>
            <a:ext cx="3502438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Drains pending speech, commits transcripts, closes I/O, emits close event.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SESSIONS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Starting a session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2476500" y="4762500"/>
            <a:ext cx="6286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CONFIGURE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762250" y="5191125"/>
            <a:ext cx="5715000" cy="800100"/>
          </a:xfrm>
          <a:prstGeom prst="roundRect">
            <a:avLst>
              <a:gd name="adj" fmla="val 7143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52750" y="5429250"/>
            <a:ext cx="53340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AgentSession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762250" y="6143625"/>
            <a:ext cx="1828800" cy="561975"/>
          </a:xfrm>
          <a:prstGeom prst="roundRect">
            <a:avLst>
              <a:gd name="adj" fmla="val 6780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9875" y="6305550"/>
            <a:ext cx="1733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5350" y="6143625"/>
            <a:ext cx="1828800" cy="561975"/>
          </a:xfrm>
          <a:prstGeom prst="roundRect">
            <a:avLst>
              <a:gd name="adj" fmla="val 6780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2975" y="6305550"/>
            <a:ext cx="1733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48450" y="6143625"/>
            <a:ext cx="1828800" cy="561975"/>
          </a:xfrm>
          <a:prstGeom prst="roundRect">
            <a:avLst>
              <a:gd name="adj" fmla="val 6780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6075" y="6305550"/>
            <a:ext cx="1733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62250" y="6858000"/>
            <a:ext cx="5715000" cy="561975"/>
          </a:xfrm>
          <a:prstGeom prst="roundRect">
            <a:avLst>
              <a:gd name="adj" fmla="val 6780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2250" y="7019925"/>
            <a:ext cx="5715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turn_handling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0575" y="5891213"/>
            <a:ext cx="14668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25000" y="4405313"/>
            <a:ext cx="6286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810750" y="4833938"/>
            <a:ext cx="5715000" cy="800100"/>
          </a:xfrm>
          <a:prstGeom prst="roundRect">
            <a:avLst>
              <a:gd name="adj" fmla="val 7143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01250" y="5072063"/>
            <a:ext cx="53340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session.start()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810750" y="5786438"/>
            <a:ext cx="5715000" cy="561975"/>
          </a:xfrm>
          <a:prstGeom prst="roundRect">
            <a:avLst>
              <a:gd name="adj" fmla="val 6780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0750" y="5948363"/>
            <a:ext cx="5715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room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810750" y="6500813"/>
            <a:ext cx="5715000" cy="561975"/>
          </a:xfrm>
          <a:prstGeom prst="roundRect">
            <a:avLst>
              <a:gd name="adj" fmla="val 6780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0750" y="6662738"/>
            <a:ext cx="5715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10750" y="7215188"/>
            <a:ext cx="5715000" cy="561975"/>
          </a:xfrm>
          <a:prstGeom prst="roundRect">
            <a:avLst>
              <a:gd name="adj" fmla="val 6780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0750" y="7377113"/>
            <a:ext cx="5715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room_options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SESSIONS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events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9375"/>
            <a:ext cx="16383000" cy="6943725"/>
          </a:xfrm>
          <a:prstGeom prst="roundRect">
            <a:avLst>
              <a:gd name="adj" fmla="val 823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2628900"/>
            <a:ext cx="16363950" cy="666750"/>
          </a:xfrm>
          <a:prstGeom prst="rect">
            <a:avLst/>
          </a:prstGeom>
          <a:solidFill>
            <a:srgbClr val="121A22"/>
          </a:solidFill>
          <a:ln/>
        </p:spPr>
      </p:sp>
      <p:sp>
        <p:nvSpPr>
          <p:cNvPr id="6" name="Shape 4"/>
          <p:cNvSpPr/>
          <p:nvPr/>
        </p:nvSpPr>
        <p:spPr>
          <a:xfrm>
            <a:off x="962025" y="328612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7" name="Text 5"/>
          <p:cNvSpPr/>
          <p:nvPr/>
        </p:nvSpPr>
        <p:spPr>
          <a:xfrm>
            <a:off x="1266825" y="2819400"/>
            <a:ext cx="5776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18225" y="2819400"/>
            <a:ext cx="11553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IT FIRES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62025" y="4095750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0" name="Text 8"/>
          <p:cNvSpPr/>
          <p:nvPr/>
        </p:nvSpPr>
        <p:spPr>
          <a:xfrm>
            <a:off x="1266825" y="3543300"/>
            <a:ext cx="5776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agent_state_changed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8225" y="3543300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moves between listening, thinking, speaking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2025" y="490537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" y="4352925"/>
            <a:ext cx="5776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user_state_changed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18225" y="4352925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moves between speaking, listening, away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2025" y="5715000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6" name="Text 14"/>
          <p:cNvSpPr/>
          <p:nvPr/>
        </p:nvSpPr>
        <p:spPr>
          <a:xfrm>
            <a:off x="1266825" y="5162550"/>
            <a:ext cx="5776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user_input_transcribed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8225" y="5162550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speech is transcribed to text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025" y="652462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9" name="Text 17"/>
          <p:cNvSpPr/>
          <p:nvPr/>
        </p:nvSpPr>
        <p:spPr>
          <a:xfrm>
            <a:off x="1266825" y="5972175"/>
            <a:ext cx="5776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conversation_item_added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8225" y="5972175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message is added to conversation history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6825" y="6781800"/>
            <a:ext cx="5776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8225" y="6781800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closes, gracefully or due to an error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SESSIONS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RoomIO &amp; room options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2619375"/>
            <a:ext cx="749188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default,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RoomIO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bridges the agent session and the LiveKit room — it lets participants subscribe to available audio tracks automatically.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607177" y="2619375"/>
            <a:ext cx="8728323" cy="676275"/>
          </a:xfrm>
          <a:prstGeom prst="roundRect">
            <a:avLst>
              <a:gd name="adj" fmla="val 5634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83402" y="2819400"/>
            <a:ext cx="84377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 participant </a:t>
            </a:r>
            <a:pPr algn="l" indent="0" marL="0">
              <a:buNone/>
            </a:pPr>
            <a:r>
              <a:rPr lang="en-US" sz="1650" dirty="0">
                <a:solidFill>
                  <a:srgbClr val="F3F6F7"/>
                </a:solidFill>
                <a:highlight>
                  <a:srgbClr val="121A22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who the agent listens/responds to (default: first to join)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07177" y="3448050"/>
            <a:ext cx="8728323" cy="676275"/>
          </a:xfrm>
          <a:prstGeom prst="roundRect">
            <a:avLst>
              <a:gd name="adj" fmla="val 5634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3402" y="3648075"/>
            <a:ext cx="84377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 options </a:t>
            </a:r>
            <a:pPr algn="l" indent="0" marL="0">
              <a:buNone/>
            </a:pPr>
            <a:r>
              <a:rPr lang="en-US" sz="1650" dirty="0">
                <a:solidFill>
                  <a:srgbClr val="F3F6F7"/>
                </a:solidFill>
                <a:highlight>
                  <a:srgbClr val="121A22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text, audio (noise cancellation, AGC), video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607177" y="4276725"/>
            <a:ext cx="8728323" cy="676275"/>
          </a:xfrm>
          <a:prstGeom prst="roundRect">
            <a:avLst>
              <a:gd name="adj" fmla="val 5634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83402" y="4476750"/>
            <a:ext cx="84377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 options </a:t>
            </a:r>
            <a:pPr algn="l" indent="0" marL="0">
              <a:buNone/>
            </a:pPr>
            <a:r>
              <a:rPr lang="en-US" sz="1650" dirty="0">
                <a:solidFill>
                  <a:srgbClr val="F3F6F7"/>
                </a:solidFill>
                <a:highlight>
                  <a:srgbClr val="121A22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transcription sync, audio sample rate/channels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607177" y="5105400"/>
            <a:ext cx="8728323" cy="676275"/>
          </a:xfrm>
          <a:prstGeom prst="roundRect">
            <a:avLst>
              <a:gd name="adj" fmla="val 5634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3402" y="5305425"/>
            <a:ext cx="84377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 up </a:t>
            </a:r>
            <a:pPr algn="l" indent="0" marL="0">
              <a:buNone/>
            </a:pPr>
            <a:r>
              <a:rPr lang="en-US" sz="1650" dirty="0">
                <a:solidFill>
                  <a:srgbClr val="F3F6F7"/>
                </a:solidFill>
                <a:highlight>
                  <a:srgbClr val="121A22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close_on_disconnect, delete_room_on_close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SESSIONS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Handling inactive users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4672013"/>
            <a:ext cx="259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44960" y="4672013"/>
            <a:ext cx="61134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user_away_timeout </a:t>
            </a:r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(default 15s of silence)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5281613"/>
            <a:ext cx="259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44960" y="5281613"/>
            <a:ext cx="55265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Listen for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user_state_changed </a:t>
            </a:r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"away"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5891213"/>
            <a:ext cx="259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4960" y="5891213"/>
            <a:ext cx="48201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the user a few times to check in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6500813"/>
            <a:ext cx="259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44960" y="6500813"/>
            <a:ext cx="63770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 the check-in if the user becomes active again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7110413"/>
            <a:ext cx="259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44960" y="7110413"/>
            <a:ext cx="67630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session.shutdown() </a:t>
            </a:r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retries are exhausted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10700" y="4133850"/>
            <a:ext cx="7924800" cy="600075"/>
          </a:xfrm>
          <a:prstGeom prst="roundRect">
            <a:avLst>
              <a:gd name="adj" fmla="val 6349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3753" y="4314825"/>
            <a:ext cx="78386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Listening / Speaking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14460" y="4867275"/>
            <a:ext cx="8717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15s silence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410700" y="5238750"/>
            <a:ext cx="7924800" cy="600075"/>
          </a:xfrm>
          <a:prstGeom prst="roundRect">
            <a:avLst>
              <a:gd name="adj" fmla="val 6349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3753" y="5419725"/>
            <a:ext cx="78386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state: away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14460" y="5972175"/>
            <a:ext cx="8717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check in ×3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410700" y="6343650"/>
            <a:ext cx="7924800" cy="600075"/>
          </a:xfrm>
          <a:prstGeom prst="roundRect">
            <a:avLst>
              <a:gd name="adj" fmla="val 6349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53753" y="6524625"/>
            <a:ext cx="78386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still away?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14460" y="7077075"/>
            <a:ext cx="8717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10700" y="7448550"/>
            <a:ext cx="7924800" cy="600075"/>
          </a:xfrm>
          <a:prstGeom prst="roundRect">
            <a:avLst>
              <a:gd name="adj" fmla="val 6349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53753" y="7629525"/>
            <a:ext cx="78386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session.shutdown()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0" y="571500"/>
            <a:ext cx="2514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5EEAD4">
                    <a:alpha val="1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405765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TWO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610100"/>
            <a:ext cx="1802130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 Context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876925"/>
            <a:ext cx="125730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conversation history sent to the LLM on each turn</a:t>
            </a:r>
            <a:endParaRPr lang="en-US" sz="2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 CONTEXT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ChatContext holds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119688"/>
            <a:ext cx="816254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ChatContext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an ordered list of items — messages and events like handoffs — that define what the model knows.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6205538"/>
            <a:ext cx="816254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agent and task keeps its own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chat_ctx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full history across all agents lives on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session.history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410700" y="4757738"/>
            <a:ext cx="8717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chat_ctx.items — ordered list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0700" y="5129213"/>
            <a:ext cx="7924800" cy="676275"/>
          </a:xfrm>
          <a:prstGeom prst="roundRect">
            <a:avLst>
              <a:gd name="adj" fmla="val 5634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29775" y="5310188"/>
            <a:ext cx="77243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system — "You are a helpful assistant."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410700" y="5938838"/>
            <a:ext cx="7924800" cy="676275"/>
          </a:xfrm>
          <a:prstGeom prst="roundRect">
            <a:avLst>
              <a:gd name="adj" fmla="val 5634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29775" y="6119813"/>
            <a:ext cx="77243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 user — "Hello!"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410700" y="6748463"/>
            <a:ext cx="7924800" cy="676275"/>
          </a:xfrm>
          <a:prstGeom prst="roundRect">
            <a:avLst>
              <a:gd name="adj" fmla="val 5634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29775" y="6929438"/>
            <a:ext cx="77243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 assistant — reply...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 CONTEXT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 types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9375"/>
            <a:ext cx="16383000" cy="6943725"/>
          </a:xfrm>
          <a:prstGeom prst="roundRect">
            <a:avLst>
              <a:gd name="adj" fmla="val 823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2628900"/>
            <a:ext cx="16363950" cy="666750"/>
          </a:xfrm>
          <a:prstGeom prst="rect">
            <a:avLst/>
          </a:prstGeom>
          <a:solidFill>
            <a:srgbClr val="121A22"/>
          </a:solidFill>
          <a:ln/>
        </p:spPr>
      </p:sp>
      <p:sp>
        <p:nvSpPr>
          <p:cNvPr id="6" name="Shape 4"/>
          <p:cNvSpPr/>
          <p:nvPr/>
        </p:nvSpPr>
        <p:spPr>
          <a:xfrm>
            <a:off x="962025" y="328612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7" name="Text 5"/>
          <p:cNvSpPr/>
          <p:nvPr/>
        </p:nvSpPr>
        <p:spPr>
          <a:xfrm>
            <a:off x="1266825" y="2819400"/>
            <a:ext cx="5776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18225" y="2819400"/>
            <a:ext cx="11553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62025" y="4076700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0" name="Text 8"/>
          <p:cNvSpPr/>
          <p:nvPr/>
        </p:nvSpPr>
        <p:spPr>
          <a:xfrm>
            <a:off x="1266825" y="3524250"/>
            <a:ext cx="5776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message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518225" y="3533775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turn with role (system/user/assistant) and content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2025" y="486727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" y="4314825"/>
            <a:ext cx="5776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function_call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518225" y="4324350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tool invocation requested by the LLM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2025" y="5657850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6" name="Text 14"/>
          <p:cNvSpPr/>
          <p:nvPr/>
        </p:nvSpPr>
        <p:spPr>
          <a:xfrm>
            <a:off x="1266825" y="5105400"/>
            <a:ext cx="5776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function_call_output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518225" y="5114925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result returned from a tool call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025" y="644842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9" name="Text 17"/>
          <p:cNvSpPr/>
          <p:nvPr/>
        </p:nvSpPr>
        <p:spPr>
          <a:xfrm>
            <a:off x="1266825" y="5895975"/>
            <a:ext cx="5776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agent_handoff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518225" y="5905500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Added automatically when control transfers between agents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6825" y="6686550"/>
            <a:ext cx="5776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agent_config_update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518225" y="6696075"/>
            <a:ext cx="11553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Records a change to instructions or tools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 CONTEXT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Copying &amp; truncating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9375"/>
            <a:ext cx="8020050" cy="6943725"/>
          </a:xfrm>
          <a:prstGeom prst="roundRect">
            <a:avLst>
              <a:gd name="adj" fmla="val 823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4925" y="2933700"/>
            <a:ext cx="80467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copy()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04925" y="3590925"/>
            <a:ext cx="75346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Snapshot for handing to another agent, or modifying independently. Includes everything by default.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04925" y="4505325"/>
            <a:ext cx="7534656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6"/>
              </a:lnSpc>
              <a:buNone/>
            </a:pPr>
            <a:r>
              <a:rPr lang="en-US" sz="1650" dirty="0">
                <a:solidFill>
                  <a:srgbClr val="6474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Filter with: exclude_instructions · exclude_function_call · exclude_handoff · exclude_empty_message · exclude_config_update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315450" y="2619375"/>
            <a:ext cx="8020050" cy="6943725"/>
          </a:xfrm>
          <a:prstGeom prst="roundRect">
            <a:avLst>
              <a:gd name="adj" fmla="val 823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67875" y="2933700"/>
            <a:ext cx="80467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truncate(max_items)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67875" y="3590925"/>
            <a:ext cx="75346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Reduces to the most recent N items. Always preserves system instructions.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67875" y="4505325"/>
            <a:ext cx="753465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6"/>
              </a:lnSpc>
              <a:buNone/>
            </a:pPr>
            <a:r>
              <a:rPr lang="en-US" sz="1650" dirty="0">
                <a:solidFill>
                  <a:srgbClr val="6474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Strips leading function-call items so no tool result is left orphaned.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 CONTEXT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Merging contexts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233988"/>
            <a:ext cx="816254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merge()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combines items from another context into the current one — deduplicating by item ID and keeping chronological order. Useful for reunifying histories after parallel tasks complete.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410700" y="5162550"/>
            <a:ext cx="3848100" cy="600075"/>
          </a:xfrm>
          <a:prstGeom prst="roundRect">
            <a:avLst>
              <a:gd name="adj" fmla="val 6349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14904" y="5324475"/>
            <a:ext cx="36396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 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487400" y="5162550"/>
            <a:ext cx="3848100" cy="600075"/>
          </a:xfrm>
          <a:prstGeom prst="roundRect">
            <a:avLst>
              <a:gd name="adj" fmla="val 6349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91604" y="5324475"/>
            <a:ext cx="36396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 B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292780" y="5876925"/>
            <a:ext cx="457670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merge() — dedupe by ID ↓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10700" y="6343650"/>
            <a:ext cx="7924800" cy="676275"/>
          </a:xfrm>
          <a:prstGeom prst="roundRect">
            <a:avLst>
              <a:gd name="adj" fmla="val 5634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91853" y="6543675"/>
            <a:ext cx="77624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Combined, chronological context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 CONTEXT — 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Initialize with user data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233988"/>
            <a:ext cx="816254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user-specific context before the session starts and pass it to the agent constructor. This is the recommended approach for personalizing an agent without a round-trip to the LLM.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374636" y="4514850"/>
            <a:ext cx="3996779" cy="638175"/>
          </a:xfrm>
          <a:prstGeom prst="roundRect">
            <a:avLst>
              <a:gd name="adj" fmla="val 5970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52809" y="4695825"/>
            <a:ext cx="36404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data (DB, profile, API)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293030" y="5286375"/>
            <a:ext cx="2363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563350" y="5772150"/>
            <a:ext cx="3619500" cy="638175"/>
          </a:xfrm>
          <a:prstGeom prst="roundRect">
            <a:avLst>
              <a:gd name="adj" fmla="val 5970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47183" y="5953125"/>
            <a:ext cx="3251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initial_ctx (ChatContext)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293030" y="6543675"/>
            <a:ext cx="2363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179993" y="7029450"/>
            <a:ext cx="6386066" cy="638175"/>
          </a:xfrm>
          <a:prstGeom prst="roundRect">
            <a:avLst>
              <a:gd name="adj" fmla="val 5970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22327" y="7210425"/>
            <a:ext cx="61013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MyAgent(chat_ctx=initial_ctx) → session.start()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 CONTEXT — 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Modifying context mid-turn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233988"/>
            <a:ext cx="816254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Override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on_user_turn_completed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inject context — from a database, API, or RAG lookup — right before the LLM generates its reply. Call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update_chat_ctx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persist beyond the current turn.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410700" y="4281488"/>
            <a:ext cx="7924800" cy="561975"/>
          </a:xfrm>
          <a:prstGeom prst="roundRect">
            <a:avLst>
              <a:gd name="adj" fmla="val 6780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91853" y="4443413"/>
            <a:ext cx="77624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finishes turn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014460" y="4976813"/>
            <a:ext cx="87172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10700" y="5300663"/>
            <a:ext cx="7924800" cy="561975"/>
          </a:xfrm>
          <a:prstGeom prst="roundRect">
            <a:avLst>
              <a:gd name="adj" fmla="val 6780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91853" y="5462588"/>
            <a:ext cx="77624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on_user_turn_completed() hook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14460" y="5995988"/>
            <a:ext cx="87172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410700" y="6319838"/>
            <a:ext cx="7924800" cy="561975"/>
          </a:xfrm>
          <a:prstGeom prst="roundRect">
            <a:avLst>
              <a:gd name="adj" fmla="val 6780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853" y="6481762"/>
            <a:ext cx="77624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fetch external data (DB / API / RAG)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14460" y="7015163"/>
            <a:ext cx="87172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inject into turn_ctx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0700" y="7339012"/>
            <a:ext cx="7924800" cy="561975"/>
          </a:xfrm>
          <a:prstGeom prst="roundRect">
            <a:avLst>
              <a:gd name="adj" fmla="val 6780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91853" y="7500938"/>
            <a:ext cx="77624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 generates reply with extra context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0" y="571500"/>
            <a:ext cx="2514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5EEAD4">
                    <a:alpha val="1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3538538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THREE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090987"/>
            <a:ext cx="16874490" cy="211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Detection &amp; Interruptions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6396038"/>
            <a:ext cx="125730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conversation flow, timing, and natural turn-taking</a:t>
            </a:r>
            <a:endParaRPr lang="en-US" sz="2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detection modes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9375"/>
            <a:ext cx="16383000" cy="6943725"/>
          </a:xfrm>
          <a:prstGeom prst="roundRect">
            <a:avLst>
              <a:gd name="adj" fmla="val 823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2628900"/>
            <a:ext cx="16363950" cy="628650"/>
          </a:xfrm>
          <a:prstGeom prst="rect">
            <a:avLst/>
          </a:prstGeom>
          <a:solidFill>
            <a:srgbClr val="121A22"/>
          </a:solidFill>
          <a:ln/>
        </p:spPr>
      </p:sp>
      <p:sp>
        <p:nvSpPr>
          <p:cNvPr id="6" name="Shape 4"/>
          <p:cNvSpPr/>
          <p:nvPr/>
        </p:nvSpPr>
        <p:spPr>
          <a:xfrm>
            <a:off x="962025" y="324802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7" name="Text 5"/>
          <p:cNvSpPr/>
          <p:nvPr/>
        </p:nvSpPr>
        <p:spPr>
          <a:xfrm>
            <a:off x="1266825" y="2800350"/>
            <a:ext cx="54155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90059" y="2800350"/>
            <a:ext cx="119142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TO USE IT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62025" y="3257550"/>
            <a:ext cx="16363950" cy="695325"/>
          </a:xfrm>
          <a:prstGeom prst="rect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2025" y="3943350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1" name="Text 9"/>
          <p:cNvSpPr/>
          <p:nvPr/>
        </p:nvSpPr>
        <p:spPr>
          <a:xfrm>
            <a:off x="1266825" y="3448050"/>
            <a:ext cx="5415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detector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90059" y="3462338"/>
            <a:ext cx="119142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&amp; recommended — predicts end-of-turn from meaning + acoustics, on top of VAD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025" y="463867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4" name="Text 12"/>
          <p:cNvSpPr/>
          <p:nvPr/>
        </p:nvSpPr>
        <p:spPr>
          <a:xfrm>
            <a:off x="1266825" y="4143375"/>
            <a:ext cx="5415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Realtime models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90059" y="4157663"/>
            <a:ext cx="119142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a realtime LLM's built-in server-side detection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62025" y="5334000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7" name="Text 15"/>
          <p:cNvSpPr/>
          <p:nvPr/>
        </p:nvSpPr>
        <p:spPr>
          <a:xfrm>
            <a:off x="1266825" y="4838700"/>
            <a:ext cx="5415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VAD only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0059" y="4852988"/>
            <a:ext cx="119142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Minimal latency, or languages the turn detector model doesn't cover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62025" y="6029325"/>
            <a:ext cx="16363950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20" name="Text 18"/>
          <p:cNvSpPr/>
          <p:nvPr/>
        </p:nvSpPr>
        <p:spPr>
          <a:xfrm>
            <a:off x="1266825" y="5534025"/>
            <a:ext cx="5415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STT endpointing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90059" y="5548313"/>
            <a:ext cx="119142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STT provider already has its own turn detection (AssemblyAI, Deepgram Flux)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66825" y="6229350"/>
            <a:ext cx="5415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Manual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90059" y="6243638"/>
            <a:ext cx="119142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Push-to-talk or fully explicit control over turn boundaries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turn detector model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334000"/>
            <a:ext cx="8152733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for the STT-LLM-TTS pipeline alongside a VAD. Recommended for most agents —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AgentSession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enables it automatically, so most agents need no configuration at all.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401175" y="4838700"/>
            <a:ext cx="7934325" cy="2505075"/>
          </a:xfrm>
          <a:prstGeom prst="roundRect">
            <a:avLst>
              <a:gd name="adj" fmla="val 2281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0700" y="4848225"/>
            <a:ext cx="7915275" cy="657225"/>
          </a:xfrm>
          <a:prstGeom prst="rect">
            <a:avLst/>
          </a:prstGeom>
          <a:solidFill>
            <a:srgbClr val="121A22"/>
          </a:solidFill>
          <a:ln/>
        </p:spPr>
      </p:sp>
      <p:sp>
        <p:nvSpPr>
          <p:cNvPr id="7" name="Text 5"/>
          <p:cNvSpPr/>
          <p:nvPr/>
        </p:nvSpPr>
        <p:spPr>
          <a:xfrm>
            <a:off x="9482471" y="5038725"/>
            <a:ext cx="77717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Audio in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410700" y="5505450"/>
            <a:ext cx="3957638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9" name="Shape 7"/>
          <p:cNvSpPr/>
          <p:nvPr/>
        </p:nvSpPr>
        <p:spPr>
          <a:xfrm>
            <a:off x="13358813" y="5505450"/>
            <a:ext cx="9525" cy="628650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0" name="Text 8"/>
          <p:cNvSpPr/>
          <p:nvPr/>
        </p:nvSpPr>
        <p:spPr>
          <a:xfrm>
            <a:off x="9541835" y="5705475"/>
            <a:ext cx="368584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368338" y="5505450"/>
            <a:ext cx="3957638" cy="628650"/>
          </a:xfrm>
          <a:prstGeom prst="rect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368338" y="5505450"/>
            <a:ext cx="3957638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3" name="Text 11"/>
          <p:cNvSpPr/>
          <p:nvPr/>
        </p:nvSpPr>
        <p:spPr>
          <a:xfrm>
            <a:off x="13499473" y="5705475"/>
            <a:ext cx="36953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Detector Model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10700" y="6134100"/>
            <a:ext cx="7915275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5" name="Text 13"/>
          <p:cNvSpPr/>
          <p:nvPr/>
        </p:nvSpPr>
        <p:spPr>
          <a:xfrm>
            <a:off x="9482471" y="6334125"/>
            <a:ext cx="77717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end-of-turn decision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410700" y="6800850"/>
            <a:ext cx="7915275" cy="9525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7" name="Text 15"/>
          <p:cNvSpPr/>
          <p:nvPr/>
        </p:nvSpPr>
        <p:spPr>
          <a:xfrm>
            <a:off x="9444371" y="6962775"/>
            <a:ext cx="78479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enabled automatically — no config needed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turn control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2619375"/>
            <a:ext cx="146685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push-to-talk interfaces, set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turn_detection="manual" </a:t>
            </a:r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drive turns explicitly via RPC.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286125"/>
            <a:ext cx="5283101" cy="6276975"/>
          </a:xfrm>
          <a:prstGeom prst="roundRect">
            <a:avLst>
              <a:gd name="adj" fmla="val 1082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3581400"/>
            <a:ext cx="51198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start_turn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66825" y="4067175"/>
            <a:ext cx="4794084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07"/>
              </a:lnSpc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interrupt() → clear_user_turn() → enable audio input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02301" y="3286125"/>
            <a:ext cx="5283250" cy="6276975"/>
          </a:xfrm>
          <a:prstGeom prst="roundRect">
            <a:avLst>
              <a:gd name="adj" fmla="val 1082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6626" y="3581400"/>
            <a:ext cx="51200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end_turn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16626" y="4067175"/>
            <a:ext cx="4794238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07"/>
              </a:lnSpc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disable audio input → commit_user_turn() → generates a reply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052250" y="3286125"/>
            <a:ext cx="5283250" cy="6276975"/>
          </a:xfrm>
          <a:prstGeom prst="roundRect">
            <a:avLst>
              <a:gd name="adj" fmla="val 1082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66575" y="3581400"/>
            <a:ext cx="51200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cancel_turn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66575" y="4067175"/>
            <a:ext cx="4794238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07"/>
              </a:lnSpc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disable audio input → clear_user_turn() → discards input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Interruptions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233988"/>
            <a:ext cx="7760303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framework pauses agent speech whenever it detects user speech. When interrupted, the agent stops and its conversation history is truncated to only the portion the user actually heard.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020175" y="4839891"/>
            <a:ext cx="8315325" cy="2502694"/>
          </a:xfrm>
          <a:prstGeom prst="roundRect">
            <a:avLst>
              <a:gd name="adj" fmla="val 2284"/>
            </a:avLst>
          </a:prstGeom>
          <a:solidFill>
            <a:srgbClr val="0F1720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0700" y="5192316"/>
            <a:ext cx="776030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handle = session.say(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9FF3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"Hello world"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0700" y="5603677"/>
            <a:ext cx="776030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handle.interrupt()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0700" y="6167438"/>
            <a:ext cx="776030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or, from the session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0700" y="6578798"/>
            <a:ext cx="776030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session.interrupt()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Adaptive interruption handling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9375"/>
            <a:ext cx="8020050" cy="6943725"/>
          </a:xfrm>
          <a:prstGeom prst="roundRect">
            <a:avLst>
              <a:gd name="adj" fmla="val 823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4925" y="2933700"/>
            <a:ext cx="80467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Adaptive mode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04925" y="3590925"/>
            <a:ext cx="753465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Analyzes audio signals to tell true interruptions from conversational backchanneling ("mm-hmm", "right") — the default on LiveKit Cloud with most STT providers.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15450" y="2619375"/>
            <a:ext cx="8020050" cy="6943725"/>
          </a:xfrm>
          <a:prstGeom prst="roundRect">
            <a:avLst>
              <a:gd name="adj" fmla="val 823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7875" y="2933700"/>
            <a:ext cx="80467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False interruptions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667875" y="3590925"/>
            <a:ext cx="753465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VAD detects speech but transcription is empty. By default the agent resumes speaking; tune with </a:t>
            </a:r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resume_false_interruption </a:t>
            </a:r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</a:t>
            </a:r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false_interruption_timeout</a:t>
            </a:r>
            <a:pPr algn="l" indent="0" marL="0">
              <a:lnSpc>
                <a:spcPct val="112500"/>
              </a:lnSpc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turn limits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138738"/>
            <a:ext cx="8162544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 how long a user can speak before the agent interrupts — useful for long-form callers or voicemail greetings. Agent-initiated, unlike user-initiated interruptions.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6615113"/>
            <a:ext cx="87172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max_words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and/or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max_duration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Both default to off.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410700" y="4914900"/>
            <a:ext cx="8717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speaking — words / duration accumulate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0700" y="5343525"/>
            <a:ext cx="7924800" cy="381000"/>
          </a:xfrm>
          <a:prstGeom prst="roundRect">
            <a:avLst>
              <a:gd name="adj" fmla="val 50000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20225" y="5353050"/>
            <a:ext cx="6166396" cy="361950"/>
          </a:xfrm>
          <a:prstGeom prst="rect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832610" y="5353050"/>
            <a:ext cx="19050" cy="36195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410700" y="5915025"/>
            <a:ext cx="179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837890" y="5915025"/>
            <a:ext cx="38473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max_words / max_duration threshold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014460" y="6324600"/>
            <a:ext cx="87172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threshold crossed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10700" y="6705600"/>
            <a:ext cx="7924800" cy="561975"/>
          </a:xfrm>
          <a:prstGeom prst="roundRect">
            <a:avLst>
              <a:gd name="adj" fmla="val 6780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1853" y="6867525"/>
            <a:ext cx="77624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on_user_turn_exceeded() → agent politely cuts in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0" y="571500"/>
            <a:ext cx="2514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5EEAD4">
                    <a:alpha val="1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405765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FOUR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610100"/>
            <a:ext cx="1802130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&amp; Handoffs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876925"/>
            <a:ext cx="125730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Defining distinct agents and transferring control between them</a:t>
            </a:r>
            <a:endParaRPr lang="en-US" sz="2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&amp; HANDOFFS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multiple agents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9375"/>
            <a:ext cx="8058150" cy="3338513"/>
          </a:xfrm>
          <a:prstGeom prst="roundRect">
            <a:avLst>
              <a:gd name="adj" fmla="val 1712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4925" y="2933700"/>
            <a:ext cx="80886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Different roles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04925" y="3390900"/>
            <a:ext cx="8088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moderator agent versus a coaching agent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77350" y="2619375"/>
            <a:ext cx="8058150" cy="3338513"/>
          </a:xfrm>
          <a:prstGeom prst="roundRect">
            <a:avLst>
              <a:gd name="adj" fmla="val 1712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29775" y="2933700"/>
            <a:ext cx="80886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specialization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29775" y="3390900"/>
            <a:ext cx="8088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lightweight triage model before escalating to a larger one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6224588"/>
            <a:ext cx="8058150" cy="3338513"/>
          </a:xfrm>
          <a:prstGeom prst="roundRect">
            <a:avLst>
              <a:gd name="adj" fmla="val 1712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4925" y="6538913"/>
            <a:ext cx="80886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Different permissions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04925" y="6996113"/>
            <a:ext cx="8088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 API access versus general inquiries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7350" y="6224588"/>
            <a:ext cx="8058150" cy="3338513"/>
          </a:xfrm>
          <a:prstGeom prst="roundRect">
            <a:avLst>
              <a:gd name="adj" fmla="val 1712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9775" y="6538913"/>
            <a:ext cx="80886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Specialized contexts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9775" y="6996113"/>
            <a:ext cx="8088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optimized for particular conversation phases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&amp; HANDOFFS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Defining an agent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448300"/>
            <a:ext cx="783878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orchestrate session flow — managing tools, reasoning steps, and control transfers. Define instructions, tools, and lifecycle hooks like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on_enter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096375" y="4933950"/>
            <a:ext cx="8239125" cy="2314575"/>
          </a:xfrm>
          <a:prstGeom prst="roundRect">
            <a:avLst>
              <a:gd name="adj" fmla="val 2469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0700" y="5248275"/>
            <a:ext cx="7610475" cy="590550"/>
          </a:xfrm>
          <a:prstGeom prst="roundRect">
            <a:avLst>
              <a:gd name="adj" fmla="val 6452"/>
            </a:avLst>
          </a:prstGeom>
          <a:solidFill>
            <a:srgbClr val="121A22"/>
          </a:solidFill>
          <a:ln/>
        </p:spPr>
      </p:sp>
      <p:sp>
        <p:nvSpPr>
          <p:cNvPr id="7" name="Text 5"/>
          <p:cNvSpPr/>
          <p:nvPr/>
        </p:nvSpPr>
        <p:spPr>
          <a:xfrm>
            <a:off x="9429893" y="5381625"/>
            <a:ext cx="75720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10700" y="5991225"/>
            <a:ext cx="19050" cy="942975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9620250" y="5991225"/>
            <a:ext cx="81410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instructions — role &amp; behavior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20250" y="6343650"/>
            <a:ext cx="81410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 — capabilities it can call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20250" y="6696075"/>
            <a:ext cx="81410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on_enter() — runs when agent takes control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&amp; HANDOFFS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Handing off control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2619375"/>
            <a:ext cx="15716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tool call can return a different agent — the LLM decides when specialized help is needed.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3823246" y="5514975"/>
            <a:ext cx="4000500" cy="1276350"/>
          </a:xfrm>
          <a:prstGeom prst="roundRect">
            <a:avLst>
              <a:gd name="adj" fmla="val 4478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68978" y="5810250"/>
            <a:ext cx="37090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CustomerServiceAgent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68978" y="6257925"/>
            <a:ext cx="37090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 inquiries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84140" y="5876925"/>
            <a:ext cx="27195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transfer_to_billing() →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464105" y="5514975"/>
            <a:ext cx="4000500" cy="1276350"/>
          </a:xfrm>
          <a:prstGeom prst="roundRect">
            <a:avLst>
              <a:gd name="adj" fmla="val 4478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9838" y="5810250"/>
            <a:ext cx="37090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BillingAgent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609838" y="6257925"/>
            <a:ext cx="37090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payments, refunds, accounts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350" y="9286875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 agent_handoff item is added to chat context: old_agent_id → new_agent_id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&amp; HANDOFFS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preservation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448300"/>
            <a:ext cx="8162544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default, each new agent starts fresh — it only sees its own instructions. Pass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chat_ctx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carry the prior conversation forward.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410700" y="5553075"/>
            <a:ext cx="4076700" cy="1076325"/>
          </a:xfrm>
          <a:prstGeom prst="roundRect">
            <a:avLst>
              <a:gd name="adj" fmla="val 5310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8803" y="5791200"/>
            <a:ext cx="39604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68803" y="6172200"/>
            <a:ext cx="39604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chat_ctx.copy(exclude_instructions)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449300" y="5891213"/>
            <a:ext cx="1028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4439900" y="5443538"/>
            <a:ext cx="2895600" cy="1295400"/>
          </a:xfrm>
          <a:prstGeom prst="roundRect">
            <a:avLst>
              <a:gd name="adj" fmla="val 4412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57057" y="5681663"/>
            <a:ext cx="26612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9925" y="6062663"/>
            <a:ext cx="24955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receives conversation turns only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&amp; HANDOFFS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Summarizing context at handoff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2619375"/>
            <a:ext cx="15716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long conversations, summarize before passing to the next agent to keep its context compact.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293293" y="5743575"/>
            <a:ext cx="3619500" cy="819150"/>
          </a:xfrm>
          <a:prstGeom prst="roundRect">
            <a:avLst>
              <a:gd name="adj" fmla="val 6977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5225" y="6000750"/>
            <a:ext cx="3175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chat_ctx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7329" y="6015038"/>
            <a:ext cx="16601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summarize()→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22059" y="5743575"/>
            <a:ext cx="3619500" cy="819150"/>
          </a:xfrm>
          <a:prstGeom prst="roundRect">
            <a:avLst>
              <a:gd name="adj" fmla="val 6977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43991" y="6000750"/>
            <a:ext cx="3175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 summary string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4884" y="6015038"/>
            <a:ext cx="14668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inject as→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375059" y="5591175"/>
            <a:ext cx="3619500" cy="1123950"/>
          </a:xfrm>
          <a:prstGeom prst="roundRect">
            <a:avLst>
              <a:gd name="adj" fmla="val 5085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96991" y="5848350"/>
            <a:ext cx="317563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message on next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350" y="9286875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474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strategies: truncate to last N items, or store facts in userdata and inject as JSON/YAML.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&amp; HANDOFFS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Passing state with userdata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233988"/>
            <a:ext cx="816254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custom session-wide state in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userdata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recommended as a dataclass (Python) or typed interface (Node.js). Available as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session.userdata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in tools via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RunContext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999565" y="5176838"/>
            <a:ext cx="2747070" cy="704850"/>
          </a:xfrm>
          <a:prstGeom prst="roundRect">
            <a:avLst>
              <a:gd name="adj" fmla="val 8108"/>
            </a:avLst>
          </a:prstGeom>
          <a:solidFill>
            <a:srgbClr val="5EEAD4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34584" y="5376863"/>
            <a:ext cx="22770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session.userdata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30150" y="6053138"/>
            <a:ext cx="16344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shared across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10700" y="6462713"/>
            <a:ext cx="2552700" cy="542925"/>
          </a:xfrm>
          <a:prstGeom prst="roundRect">
            <a:avLst>
              <a:gd name="adj" fmla="val 7018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34335" y="6624637"/>
            <a:ext cx="23054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096750" y="6462713"/>
            <a:ext cx="2552700" cy="542925"/>
          </a:xfrm>
          <a:prstGeom prst="roundRect">
            <a:avLst>
              <a:gd name="adj" fmla="val 7018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20385" y="6624637"/>
            <a:ext cx="23054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4782800" y="6462713"/>
            <a:ext cx="2552700" cy="542925"/>
          </a:xfrm>
          <a:prstGeom prst="roundRect">
            <a:avLst>
              <a:gd name="adj" fmla="val 7018"/>
            </a:avLst>
          </a:prstGeom>
          <a:solidFill>
            <a:srgbClr val="121A22"/>
          </a:solidFill>
          <a:ln w="9525">
            <a:solidFill>
              <a:srgbClr val="2230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6435" y="6624637"/>
            <a:ext cx="23054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SYNTHESIS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all together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047750" y="5224463"/>
            <a:ext cx="16192500" cy="1733550"/>
          </a:xfrm>
          <a:prstGeom prst="roundRect">
            <a:avLst>
              <a:gd name="adj" fmla="val 3297"/>
            </a:avLst>
          </a:prstGeom>
          <a:ln w="9525">
            <a:solidFill>
              <a:srgbClr val="2230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91113" y="5233988"/>
            <a:ext cx="9525" cy="1714500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6" name="Text 4"/>
          <p:cNvSpPr/>
          <p:nvPr/>
        </p:nvSpPr>
        <p:spPr>
          <a:xfrm>
            <a:off x="1148953" y="5595938"/>
            <a:ext cx="38504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1468" y="6034088"/>
            <a:ext cx="360545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Orchestrates I/O, pipeline, and lifecycle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34475" y="5233988"/>
            <a:ext cx="9525" cy="1714500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9" name="Text 7"/>
          <p:cNvSpPr/>
          <p:nvPr/>
        </p:nvSpPr>
        <p:spPr>
          <a:xfrm>
            <a:off x="5192316" y="5595938"/>
            <a:ext cx="38504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 CONTEXT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14831" y="6034088"/>
            <a:ext cx="360545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Carries history across turns and handoffs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177838" y="5233988"/>
            <a:ext cx="9525" cy="1714500"/>
          </a:xfrm>
          <a:prstGeom prst="rect">
            <a:avLst/>
          </a:prstGeom>
          <a:solidFill>
            <a:srgbClr val="22303B"/>
          </a:solidFill>
          <a:ln/>
        </p:spPr>
      </p:sp>
      <p:sp>
        <p:nvSpPr>
          <p:cNvPr id="12" name="Text 10"/>
          <p:cNvSpPr/>
          <p:nvPr/>
        </p:nvSpPr>
        <p:spPr>
          <a:xfrm>
            <a:off x="9235678" y="5595938"/>
            <a:ext cx="38504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DETECTION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35678" y="6034088"/>
            <a:ext cx="38504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Paces listening, thinking, speaking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278564" y="5595938"/>
            <a:ext cx="38609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HANDOFFS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78564" y="6034088"/>
            <a:ext cx="38609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3A3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to the right specialist agent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WRAP-UP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52550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takeaways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4672013"/>
            <a:ext cx="2597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64605" y="4710113"/>
            <a:ext cx="8539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AgentSession is the orchestrator; agents define behavior within 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5281613"/>
            <a:ext cx="2597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64605" y="5319713"/>
            <a:ext cx="108027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ChatContext is explicit and controllable — copy, truncate, and merge it deliberately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5891213"/>
            <a:ext cx="2597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64605" y="5929313"/>
            <a:ext cx="133833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default turn detector model handles most cases — reach for manual control only when you need 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6500813"/>
            <a:ext cx="2597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64605" y="6538913"/>
            <a:ext cx="123032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Handoffs give you specialized, permissioned agents — pass or summarize context deliberately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7110413"/>
            <a:ext cx="2597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64605" y="7148513"/>
            <a:ext cx="790936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is what turns a demo into a production voice agent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119438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RESOURCES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633788"/>
            <a:ext cx="180213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3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reading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490061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u="sng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docs.livekit.io/agents/logic/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logic &amp; structure overview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541496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u="sng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docs.livekit.io/agents/logic/sessions/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agent sessions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592931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u="sng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docs.livekit.io/agents/logic/chat-context/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chat context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644366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u="sng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docs.livekit.io/agents/logic/turns/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turn detection &amp; interruptions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695801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u="sng" dirty="0">
                <a:solidFill>
                  <a:srgbClr val="5EE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docs.livekit.io/agents/logic/agents-handoffs/ </a:t>
            </a:r>
            <a:pPr algn="l" indent="0" marL="0">
              <a:buNone/>
            </a:pPr>
            <a:r>
              <a:rPr lang="en-US" sz="1950" dirty="0">
                <a:solidFill>
                  <a:srgbClr val="F3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agents &amp; handoffs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2026-07-13T17:15:38Z</dcterms:created>
  <dcterms:modified xsi:type="dcterms:W3CDTF">2026-07-13T17:15:38Z</dcterms:modified>
</cp:coreProperties>
</file>